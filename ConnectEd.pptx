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Bold" panose="00000800000000000000" charset="0"/>
      <p:regular r:id="rId15"/>
    </p:embeddedFont>
    <p:embeddedFont>
      <p:font typeface="Tomorrow" panose="020B0604020202020204" charset="0"/>
      <p:regular r:id="rId16"/>
    </p:embeddedFont>
    <p:embeddedFont>
      <p:font typeface="Tomorrow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E52D8-4890-43CE-B50B-814819F24879}" v="3" dt="2025-11-08T13:55:17.2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2328" autoAdjust="0"/>
  </p:normalViewPr>
  <p:slideViewPr>
    <p:cSldViewPr>
      <p:cViewPr varScale="1">
        <p:scale>
          <a:sx n="46" d="100"/>
          <a:sy n="46" d="100"/>
        </p:scale>
        <p:origin x="118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ynah Dayok" userId="80bdfa4669c82a80" providerId="LiveId" clId="{2DB339FD-9CB2-42F6-8796-A0C2181F9EF7}"/>
    <pc:docChg chg="custSel modSld">
      <pc:chgData name="Biynah Dayok" userId="80bdfa4669c82a80" providerId="LiveId" clId="{2DB339FD-9CB2-42F6-8796-A0C2181F9EF7}" dt="2025-11-08T14:19:38.946" v="1189" actId="20577"/>
      <pc:docMkLst>
        <pc:docMk/>
      </pc:docMkLst>
      <pc:sldChg chg="modSp mod">
        <pc:chgData name="Biynah Dayok" userId="80bdfa4669c82a80" providerId="LiveId" clId="{2DB339FD-9CB2-42F6-8796-A0C2181F9EF7}" dt="2025-11-08T10:07:36.215" v="1" actId="14100"/>
        <pc:sldMkLst>
          <pc:docMk/>
          <pc:sldMk cId="0" sldId="256"/>
        </pc:sldMkLst>
        <pc:spChg chg="mod">
          <ac:chgData name="Biynah Dayok" userId="80bdfa4669c82a80" providerId="LiveId" clId="{2DB339FD-9CB2-42F6-8796-A0C2181F9EF7}" dt="2025-11-08T10:07:36.215" v="1" actId="14100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Biynah Dayok" userId="80bdfa4669c82a80" providerId="LiveId" clId="{2DB339FD-9CB2-42F6-8796-A0C2181F9EF7}" dt="2025-11-08T10:13:49.322" v="45" actId="14100"/>
        <pc:sldMkLst>
          <pc:docMk/>
          <pc:sldMk cId="0" sldId="257"/>
        </pc:sldMkLst>
        <pc:spChg chg="mod">
          <ac:chgData name="Biynah Dayok" userId="80bdfa4669c82a80" providerId="LiveId" clId="{2DB339FD-9CB2-42F6-8796-A0C2181F9EF7}" dt="2025-11-08T10:07:56.047" v="3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Biynah Dayok" userId="80bdfa4669c82a80" providerId="LiveId" clId="{2DB339FD-9CB2-42F6-8796-A0C2181F9EF7}" dt="2025-11-08T10:13:49.322" v="45" actId="14100"/>
          <ac:spMkLst>
            <pc:docMk/>
            <pc:sldMk cId="0" sldId="257"/>
            <ac:spMk id="33" creationId="{00000000-0000-0000-0000-000000000000}"/>
          </ac:spMkLst>
        </pc:spChg>
        <pc:grpChg chg="mod">
          <ac:chgData name="Biynah Dayok" userId="80bdfa4669c82a80" providerId="LiveId" clId="{2DB339FD-9CB2-42F6-8796-A0C2181F9EF7}" dt="2025-11-08T10:13:34.122" v="44" actId="1076"/>
          <ac:grpSpMkLst>
            <pc:docMk/>
            <pc:sldMk cId="0" sldId="257"/>
            <ac:grpSpMk id="6" creationId="{00000000-0000-0000-0000-000000000000}"/>
          </ac:grpSpMkLst>
        </pc:grpChg>
      </pc:sldChg>
      <pc:sldChg chg="modSp mod">
        <pc:chgData name="Biynah Dayok" userId="80bdfa4669c82a80" providerId="LiveId" clId="{2DB339FD-9CB2-42F6-8796-A0C2181F9EF7}" dt="2025-11-08T10:12:06.379" v="43" actId="1076"/>
        <pc:sldMkLst>
          <pc:docMk/>
          <pc:sldMk cId="0" sldId="259"/>
        </pc:sldMkLst>
        <pc:spChg chg="mod">
          <ac:chgData name="Biynah Dayok" userId="80bdfa4669c82a80" providerId="LiveId" clId="{2DB339FD-9CB2-42F6-8796-A0C2181F9EF7}" dt="2025-11-08T10:12:06.379" v="4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Biynah Dayok" userId="80bdfa4669c82a80" providerId="LiveId" clId="{2DB339FD-9CB2-42F6-8796-A0C2181F9EF7}" dt="2025-11-08T10:11:57.432" v="41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 modNotesTx">
        <pc:chgData name="Biynah Dayok" userId="80bdfa4669c82a80" providerId="LiveId" clId="{2DB339FD-9CB2-42F6-8796-A0C2181F9EF7}" dt="2025-11-08T14:19:38.946" v="1189" actId="20577"/>
        <pc:sldMkLst>
          <pc:docMk/>
          <pc:sldMk cId="0" sldId="260"/>
        </pc:sldMkLst>
        <pc:spChg chg="mod">
          <ac:chgData name="Biynah Dayok" userId="80bdfa4669c82a80" providerId="LiveId" clId="{2DB339FD-9CB2-42F6-8796-A0C2181F9EF7}" dt="2025-11-08T10:08:22.561" v="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Biynah Dayok" userId="80bdfa4669c82a80" providerId="LiveId" clId="{2DB339FD-9CB2-42F6-8796-A0C2181F9EF7}" dt="2025-11-08T14:19:38.946" v="1189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iynah Dayok" userId="80bdfa4669c82a80" providerId="LiveId" clId="{2DB339FD-9CB2-42F6-8796-A0C2181F9EF7}" dt="2025-11-08T11:52:15.685" v="374" actId="20577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Biynah Dayok" userId="80bdfa4669c82a80" providerId="LiveId" clId="{2DB339FD-9CB2-42F6-8796-A0C2181F9EF7}" dt="2025-11-08T12:08:13.227" v="1185" actId="20577"/>
        <pc:sldMkLst>
          <pc:docMk/>
          <pc:sldMk cId="0" sldId="261"/>
        </pc:sldMkLst>
        <pc:spChg chg="mod">
          <ac:chgData name="Biynah Dayok" userId="80bdfa4669c82a80" providerId="LiveId" clId="{2DB339FD-9CB2-42F6-8796-A0C2181F9EF7}" dt="2025-11-08T10:08:39.518" v="7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Biynah Dayok" userId="80bdfa4669c82a80" providerId="LiveId" clId="{2DB339FD-9CB2-42F6-8796-A0C2181F9EF7}" dt="2025-11-08T12:08:13.227" v="1185" actId="20577"/>
          <ac:spMkLst>
            <pc:docMk/>
            <pc:sldMk cId="0" sldId="261"/>
            <ac:spMk id="7" creationId="{00000000-0000-0000-0000-000000000000}"/>
          </ac:spMkLst>
        </pc:spChg>
      </pc:sldChg>
      <pc:sldChg chg="delSp modSp mod">
        <pc:chgData name="Biynah Dayok" userId="80bdfa4669c82a80" providerId="LiveId" clId="{2DB339FD-9CB2-42F6-8796-A0C2181F9EF7}" dt="2025-11-08T10:40:37.114" v="263" actId="20577"/>
        <pc:sldMkLst>
          <pc:docMk/>
          <pc:sldMk cId="0" sldId="262"/>
        </pc:sldMkLst>
        <pc:spChg chg="mod">
          <ac:chgData name="Biynah Dayok" userId="80bdfa4669c82a80" providerId="LiveId" clId="{2DB339FD-9CB2-42F6-8796-A0C2181F9EF7}" dt="2025-11-08T10:08:52.501" v="9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Biynah Dayok" userId="80bdfa4669c82a80" providerId="LiveId" clId="{2DB339FD-9CB2-42F6-8796-A0C2181F9EF7}" dt="2025-11-08T10:40:37.114" v="263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Biynah Dayok" userId="80bdfa4669c82a80" providerId="LiveId" clId="{2DB339FD-9CB2-42F6-8796-A0C2181F9EF7}" dt="2025-11-08T10:38:07.675" v="243" actId="20577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Biynah Dayok" userId="80bdfa4669c82a80" providerId="LiveId" clId="{2DB339FD-9CB2-42F6-8796-A0C2181F9EF7}" dt="2025-11-08T10:37:04.479" v="216" actId="478"/>
          <ac:spMkLst>
            <pc:docMk/>
            <pc:sldMk cId="0" sldId="262"/>
            <ac:spMk id="7" creationId="{00000000-0000-0000-0000-000000000000}"/>
          </ac:spMkLst>
        </pc:spChg>
      </pc:sldChg>
      <pc:sldChg chg="addSp modSp mod">
        <pc:chgData name="Biynah Dayok" userId="80bdfa4669c82a80" providerId="LiveId" clId="{2DB339FD-9CB2-42F6-8796-A0C2181F9EF7}" dt="2025-11-08T13:55:17.204" v="1188"/>
        <pc:sldMkLst>
          <pc:docMk/>
          <pc:sldMk cId="0" sldId="263"/>
        </pc:sldMkLst>
        <pc:spChg chg="mod">
          <ac:chgData name="Biynah Dayok" userId="80bdfa4669c82a80" providerId="LiveId" clId="{2DB339FD-9CB2-42F6-8796-A0C2181F9EF7}" dt="2025-11-08T10:09:03.111" v="11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Biynah Dayok" userId="80bdfa4669c82a80" providerId="LiveId" clId="{2DB339FD-9CB2-42F6-8796-A0C2181F9EF7}" dt="2025-11-08T10:24:39.767" v="47" actId="1076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Biynah Dayok" userId="80bdfa4669c82a80" providerId="LiveId" clId="{2DB339FD-9CB2-42F6-8796-A0C2181F9EF7}" dt="2025-11-08T13:55:17.204" v="1188"/>
          <ac:spMkLst>
            <pc:docMk/>
            <pc:sldMk cId="0" sldId="263"/>
            <ac:spMk id="4" creationId="{B0B651CA-110B-7615-CFDE-5170320713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Memphis faces poverty, crime, and multiple socioeconomic issues. All rooted and tied to  the lack of education.</a:t>
            </a:r>
          </a:p>
          <a:p>
            <a:r>
              <a:rPr lang="en-US"/>
              <a:t>EDUCATION </a:t>
            </a:r>
          </a:p>
          <a:p>
            <a:r>
              <a:rPr lang="en-US"/>
              <a:t>27.5% of 3rd-grade students reading on grade level (MSCS)</a:t>
            </a:r>
          </a:p>
          <a:p>
            <a:r>
              <a:rPr lang="en-US"/>
              <a:t>Prison Pipeline Program (dropout rates to predict future prisoners)</a:t>
            </a:r>
          </a:p>
          <a:p>
            <a:r>
              <a:rPr lang="en-US"/>
              <a:t>$50M+ unclaimed in grants. [NCAN, 2024)</a:t>
            </a:r>
          </a:p>
          <a:p>
            <a:r>
              <a:rPr lang="en-US"/>
              <a:t> Tennessee's violent crime rate is 68% higher than the national average and cities like Memphis have a  solve rate of crimes of only 39%.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ConnectED</a:t>
            </a:r>
            <a:r>
              <a:rPr lang="en-US" dirty="0"/>
              <a:t> uses AI to collect and analyze student academic data from school platforms like </a:t>
            </a:r>
            <a:r>
              <a:rPr lang="en-US" dirty="0" err="1"/>
              <a:t>Powercampus</a:t>
            </a:r>
            <a:r>
              <a:rPr lang="en-US" dirty="0"/>
              <a:t> /Canvas which creates a summarized view dashboard of students falling below the TCAP Benchmark. for the counselor to quickly diagnose the root cause of a student’s low performance. The counselor can also use the tool to receive AI-powered resource recommendations, either local or national, based on the student’s needs and aspirations gathered during an initial consultation.</a:t>
            </a:r>
          </a:p>
          <a:p>
            <a:r>
              <a:rPr lang="en-US" dirty="0"/>
              <a:t>Tennessee Comprehensive Assessment Program(TCAP)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8201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Cost is $60 per student per semester that is $120 per year </a:t>
            </a:r>
          </a:p>
          <a:p>
            <a:r>
              <a:rPr lang="en-US" dirty="0"/>
              <a:t>Total Revenue = Selling Price × Number of Units Sold</a:t>
            </a:r>
          </a:p>
          <a:p>
            <a:r>
              <a:rPr lang="en-US" dirty="0"/>
              <a:t>Profit = Total Revenue – Total Investment</a:t>
            </a:r>
          </a:p>
          <a:p>
            <a:r>
              <a:rPr lang="en-US" dirty="0"/>
              <a:t>ROI (%) = (Profit ÷ Total Investment) × 100</a:t>
            </a:r>
          </a:p>
          <a:p>
            <a:endParaRPr lang="en-US" dirty="0"/>
          </a:p>
          <a:p>
            <a:r>
              <a:rPr lang="en-US" dirty="0"/>
              <a:t>**Each high school graduate yields $10,000 in personal income and $1,400–$2,600 in social savings from reduced crime—an ROI where crime reduction accounts for 14–26% of the total benefit.**</a:t>
            </a:r>
          </a:p>
          <a:p>
            <a:endParaRPr lang="en-US" dirty="0"/>
          </a:p>
          <a:p>
            <a:r>
              <a:rPr lang="en-US" dirty="0"/>
              <a:t>Startup costs including API, cloud storage and labor amount to approximately $39,000.00.</a:t>
            </a:r>
          </a:p>
          <a:p>
            <a:r>
              <a:rPr lang="en-US" dirty="0"/>
              <a:t> With the average number of students in Memphis middle schools being 400 we assume to make a $9,000.00 profit from selling the service to at least one school.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sv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028700" y="100254"/>
            <a:ext cx="17248474" cy="7086248"/>
          </a:xfrm>
          <a:custGeom>
            <a:avLst/>
            <a:gdLst/>
            <a:ahLst/>
            <a:cxnLst/>
            <a:rect l="l" t="t" r="r" b="b"/>
            <a:pathLst>
              <a:path w="17248474" h="7086248">
                <a:moveTo>
                  <a:pt x="17248474" y="7086248"/>
                </a:moveTo>
                <a:lnTo>
                  <a:pt x="0" y="7086248"/>
                </a:lnTo>
                <a:lnTo>
                  <a:pt x="0" y="0"/>
                </a:lnTo>
                <a:lnTo>
                  <a:pt x="17248474" y="0"/>
                </a:lnTo>
                <a:lnTo>
                  <a:pt x="17248474" y="708624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969927" y="8275106"/>
            <a:ext cx="4289373" cy="483529"/>
          </a:xfrm>
          <a:custGeom>
            <a:avLst/>
            <a:gdLst/>
            <a:ahLst/>
            <a:cxnLst/>
            <a:rect l="l" t="t" r="r" b="b"/>
            <a:pathLst>
              <a:path w="4289373" h="483529">
                <a:moveTo>
                  <a:pt x="0" y="0"/>
                </a:moveTo>
                <a:lnTo>
                  <a:pt x="4289373" y="0"/>
                </a:lnTo>
                <a:lnTo>
                  <a:pt x="4289373" y="483529"/>
                </a:lnTo>
                <a:lnTo>
                  <a:pt x="0" y="483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27005" y="6454129"/>
            <a:ext cx="12875661" cy="1598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209"/>
              </a:lnSpc>
            </a:pPr>
            <a:r>
              <a:rPr lang="en-US" sz="11411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ConnectEd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0680" y="1269777"/>
            <a:ext cx="401693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TEAM AURA</a:t>
            </a:r>
          </a:p>
          <a:p>
            <a:pPr algn="l">
              <a:lnSpc>
                <a:spcPts val="2724"/>
              </a:lnSpc>
            </a:pPr>
            <a:r>
              <a:rPr lang="en-US" sz="2499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LeMoyne-Owen College</a:t>
            </a:r>
          </a:p>
          <a:p>
            <a:pPr algn="l">
              <a:lnSpc>
                <a:spcPts val="2724"/>
              </a:lnSpc>
            </a:pPr>
            <a:endParaRPr lang="en-US" sz="2499" b="1">
              <a:solidFill>
                <a:srgbClr val="FFFFFF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68831" y="529807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28800" y="8064230"/>
            <a:ext cx="6858000" cy="354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Every student seen. Every resource reached.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62265" y="0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70" y="0"/>
                </a:lnTo>
                <a:lnTo>
                  <a:pt x="1794070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045411" y="8560109"/>
            <a:ext cx="5914192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MEMPHIS SOCIOECONOMIC ISSUES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62632" y="433717"/>
            <a:ext cx="7203515" cy="550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72"/>
              </a:lnSpc>
              <a:spcBef>
                <a:spcPct val="0"/>
              </a:spcBef>
            </a:pPr>
            <a:r>
              <a:rPr lang="en-US" sz="3899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9515475"/>
            <a:ext cx="18374907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THE GAP IN EDUCATION: NO SYSTEM CONNECTS THE DOTS BETWEEN STUDENTS, SCHOOLS, AND GOVERNMENT AID.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1518407"/>
            <a:ext cx="17746290" cy="6916492"/>
            <a:chOff x="0" y="0"/>
            <a:chExt cx="23661720" cy="9221990"/>
          </a:xfrm>
        </p:grpSpPr>
        <p:grpSp>
          <p:nvGrpSpPr>
            <p:cNvPr id="7" name="Group 7"/>
            <p:cNvGrpSpPr/>
            <p:nvPr/>
          </p:nvGrpSpPr>
          <p:grpSpPr>
            <a:xfrm>
              <a:off x="13601543" y="2298510"/>
              <a:ext cx="3808754" cy="3413095"/>
              <a:chOff x="0" y="0"/>
              <a:chExt cx="907023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0702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7023" h="812800">
                    <a:moveTo>
                      <a:pt x="453511" y="0"/>
                    </a:moveTo>
                    <a:lnTo>
                      <a:pt x="907023" y="310462"/>
                    </a:lnTo>
                    <a:lnTo>
                      <a:pt x="733797" y="812800"/>
                    </a:lnTo>
                    <a:lnTo>
                      <a:pt x="173226" y="812800"/>
                    </a:lnTo>
                    <a:lnTo>
                      <a:pt x="0" y="310462"/>
                    </a:lnTo>
                    <a:lnTo>
                      <a:pt x="453511" y="0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1722" y="174625"/>
                <a:ext cx="623578" cy="587375"/>
              </a:xfrm>
              <a:prstGeom prst="rect">
                <a:avLst/>
              </a:prstGeom>
            </p:spPr>
            <p:txBody>
              <a:bodyPr lIns="67999" tIns="67999" rIns="67999" bIns="67999" rtlCol="0" anchor="ctr"/>
              <a:lstStyle/>
              <a:p>
                <a:pPr algn="ctr">
                  <a:lnSpc>
                    <a:spcPts val="2318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14306701" y="3281685"/>
              <a:ext cx="2387486" cy="1863678"/>
            </a:xfrm>
            <a:custGeom>
              <a:avLst/>
              <a:gdLst/>
              <a:ahLst/>
              <a:cxnLst/>
              <a:rect l="l" t="t" r="r" b="b"/>
              <a:pathLst>
                <a:path w="2387486" h="1863678">
                  <a:moveTo>
                    <a:pt x="0" y="0"/>
                  </a:moveTo>
                  <a:lnTo>
                    <a:pt x="2387486" y="0"/>
                  </a:lnTo>
                  <a:lnTo>
                    <a:pt x="2387486" y="1863679"/>
                  </a:lnTo>
                  <a:lnTo>
                    <a:pt x="0" y="1863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309" b="-5796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7173771" y="2298510"/>
              <a:ext cx="3808754" cy="3413095"/>
              <a:chOff x="0" y="0"/>
              <a:chExt cx="907023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0702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7023" h="812800">
                    <a:moveTo>
                      <a:pt x="453511" y="0"/>
                    </a:moveTo>
                    <a:lnTo>
                      <a:pt x="907023" y="310462"/>
                    </a:lnTo>
                    <a:lnTo>
                      <a:pt x="733797" y="812800"/>
                    </a:lnTo>
                    <a:lnTo>
                      <a:pt x="173226" y="812800"/>
                    </a:lnTo>
                    <a:lnTo>
                      <a:pt x="0" y="310462"/>
                    </a:lnTo>
                    <a:lnTo>
                      <a:pt x="453511" y="0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1722" y="174625"/>
                <a:ext cx="623578" cy="587375"/>
              </a:xfrm>
              <a:prstGeom prst="rect">
                <a:avLst/>
              </a:prstGeom>
            </p:spPr>
            <p:txBody>
              <a:bodyPr lIns="67999" tIns="67999" rIns="67999" bIns="67999" rtlCol="0" anchor="ctr"/>
              <a:lstStyle/>
              <a:p>
                <a:pPr algn="ctr">
                  <a:lnSpc>
                    <a:spcPts val="2318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7885072" y="3179970"/>
              <a:ext cx="2386153" cy="2384587"/>
            </a:xfrm>
            <a:custGeom>
              <a:avLst/>
              <a:gdLst/>
              <a:ahLst/>
              <a:cxnLst/>
              <a:rect l="l" t="t" r="r" b="b"/>
              <a:pathLst>
                <a:path w="2386153" h="2384587">
                  <a:moveTo>
                    <a:pt x="0" y="0"/>
                  </a:moveTo>
                  <a:lnTo>
                    <a:pt x="2386153" y="0"/>
                  </a:lnTo>
                  <a:lnTo>
                    <a:pt x="2386153" y="2384587"/>
                  </a:lnTo>
                  <a:lnTo>
                    <a:pt x="0" y="2384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306" b="-3456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272289" y="5808895"/>
              <a:ext cx="3808754" cy="3413095"/>
              <a:chOff x="0" y="0"/>
              <a:chExt cx="907023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0702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7023" h="812800">
                    <a:moveTo>
                      <a:pt x="453511" y="0"/>
                    </a:moveTo>
                    <a:lnTo>
                      <a:pt x="907023" y="310462"/>
                    </a:lnTo>
                    <a:lnTo>
                      <a:pt x="733797" y="812800"/>
                    </a:lnTo>
                    <a:lnTo>
                      <a:pt x="173226" y="812800"/>
                    </a:lnTo>
                    <a:lnTo>
                      <a:pt x="0" y="310462"/>
                    </a:lnTo>
                    <a:lnTo>
                      <a:pt x="453511" y="0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1722" y="174625"/>
                <a:ext cx="623578" cy="587375"/>
              </a:xfrm>
              <a:prstGeom prst="rect">
                <a:avLst/>
              </a:prstGeom>
            </p:spPr>
            <p:txBody>
              <a:bodyPr lIns="67999" tIns="67999" rIns="67999" bIns="67999" rtlCol="0" anchor="ctr"/>
              <a:lstStyle/>
              <a:p>
                <a:pPr algn="ctr">
                  <a:lnSpc>
                    <a:spcPts val="2318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8920833" y="6361583"/>
              <a:ext cx="2604067" cy="2600796"/>
            </a:xfrm>
            <a:custGeom>
              <a:avLst/>
              <a:gdLst/>
              <a:ahLst/>
              <a:cxnLst/>
              <a:rect l="l" t="t" r="r" b="b"/>
              <a:pathLst>
                <a:path w="2604067" h="2600796">
                  <a:moveTo>
                    <a:pt x="0" y="0"/>
                  </a:moveTo>
                  <a:lnTo>
                    <a:pt x="2604067" y="0"/>
                  </a:lnTo>
                  <a:lnTo>
                    <a:pt x="2604067" y="2600796"/>
                  </a:lnTo>
                  <a:lnTo>
                    <a:pt x="0" y="260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531" t="-3332" b="-3332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0417731" y="0"/>
              <a:ext cx="3808754" cy="3413095"/>
              <a:chOff x="0" y="0"/>
              <a:chExt cx="907023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0702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7023" h="812800">
                    <a:moveTo>
                      <a:pt x="453511" y="0"/>
                    </a:moveTo>
                    <a:lnTo>
                      <a:pt x="907023" y="310462"/>
                    </a:lnTo>
                    <a:lnTo>
                      <a:pt x="733797" y="812800"/>
                    </a:lnTo>
                    <a:lnTo>
                      <a:pt x="173226" y="812800"/>
                    </a:lnTo>
                    <a:lnTo>
                      <a:pt x="0" y="310462"/>
                    </a:lnTo>
                    <a:lnTo>
                      <a:pt x="453511" y="0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1722" y="174625"/>
                <a:ext cx="623578" cy="587375"/>
              </a:xfrm>
              <a:prstGeom prst="rect">
                <a:avLst/>
              </a:prstGeom>
            </p:spPr>
            <p:txBody>
              <a:bodyPr lIns="67999" tIns="67999" rIns="67999" bIns="67999" rtlCol="0" anchor="ctr"/>
              <a:lstStyle/>
              <a:p>
                <a:pPr algn="ctr">
                  <a:lnSpc>
                    <a:spcPts val="2318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1160133" y="409978"/>
              <a:ext cx="2460604" cy="2445530"/>
            </a:xfrm>
            <a:custGeom>
              <a:avLst/>
              <a:gdLst/>
              <a:ahLst/>
              <a:cxnLst/>
              <a:rect l="l" t="t" r="r" b="b"/>
              <a:pathLst>
                <a:path w="2460604" h="2445530">
                  <a:moveTo>
                    <a:pt x="0" y="0"/>
                  </a:moveTo>
                  <a:lnTo>
                    <a:pt x="2460604" y="0"/>
                  </a:lnTo>
                  <a:lnTo>
                    <a:pt x="2460604" y="2445530"/>
                  </a:lnTo>
                  <a:lnTo>
                    <a:pt x="0" y="2445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08" b="-308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2322108" y="5808895"/>
              <a:ext cx="3808754" cy="3413095"/>
              <a:chOff x="0" y="0"/>
              <a:chExt cx="907023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90702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7023" h="812800">
                    <a:moveTo>
                      <a:pt x="453511" y="0"/>
                    </a:moveTo>
                    <a:lnTo>
                      <a:pt x="907023" y="310462"/>
                    </a:lnTo>
                    <a:lnTo>
                      <a:pt x="733797" y="812800"/>
                    </a:lnTo>
                    <a:lnTo>
                      <a:pt x="173226" y="812800"/>
                    </a:lnTo>
                    <a:lnTo>
                      <a:pt x="0" y="310462"/>
                    </a:lnTo>
                    <a:lnTo>
                      <a:pt x="453511" y="0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41722" y="174625"/>
                <a:ext cx="623578" cy="587375"/>
              </a:xfrm>
              <a:prstGeom prst="rect">
                <a:avLst/>
              </a:prstGeom>
            </p:spPr>
            <p:txBody>
              <a:bodyPr lIns="67999" tIns="67999" rIns="67999" bIns="67999" rtlCol="0" anchor="ctr"/>
              <a:lstStyle/>
              <a:p>
                <a:pPr algn="ctr">
                  <a:lnSpc>
                    <a:spcPts val="2318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12821378" y="6339119"/>
              <a:ext cx="3151379" cy="2304104"/>
            </a:xfrm>
            <a:custGeom>
              <a:avLst/>
              <a:gdLst/>
              <a:ahLst/>
              <a:cxnLst/>
              <a:rect l="l" t="t" r="r" b="b"/>
              <a:pathLst>
                <a:path w="3151379" h="2304104">
                  <a:moveTo>
                    <a:pt x="0" y="0"/>
                  </a:moveTo>
                  <a:lnTo>
                    <a:pt x="3151379" y="0"/>
                  </a:lnTo>
                  <a:lnTo>
                    <a:pt x="3151379" y="2304104"/>
                  </a:lnTo>
                  <a:lnTo>
                    <a:pt x="0" y="2304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398" b="-43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3213256"/>
              <a:ext cx="6856138" cy="101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 b="1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Poverty rate:</a:t>
              </a:r>
              <a:r>
                <a:rPr lang="en-US" sz="2216">
                  <a:solidFill>
                    <a:srgbClr val="000000"/>
                  </a:solidFill>
                  <a:latin typeface="Tomorrow"/>
                  <a:ea typeface="Tomorrow"/>
                  <a:cs typeface="Tomorrow"/>
                  <a:sym typeface="Tomorrow"/>
                </a:rPr>
                <a:t> 22.6% of residents</a:t>
              </a:r>
            </a:p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>
                  <a:solidFill>
                    <a:srgbClr val="000000"/>
                  </a:solidFill>
                  <a:latin typeface="Tomorrow"/>
                  <a:ea typeface="Tomorrow"/>
                  <a:cs typeface="Tomorrow"/>
                  <a:sym typeface="Tomorrow"/>
                </a:rPr>
                <a:t>(U.S. Census, 2024</a:t>
              </a:r>
              <a:r>
                <a:rPr lang="en-US" sz="2216" b="1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474739" y="3512819"/>
              <a:ext cx="5186981" cy="101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03"/>
                </a:lnSpc>
              </a:pPr>
              <a:r>
                <a:rPr lang="en-US" sz="2216" b="1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Unemployment: </a:t>
              </a:r>
              <a:r>
                <a:rPr lang="en-US" sz="2216">
                  <a:solidFill>
                    <a:srgbClr val="000000"/>
                  </a:solidFill>
                  <a:latin typeface="Tomorrow"/>
                  <a:ea typeface="Tomorrow"/>
                  <a:cs typeface="Tomorrow"/>
                  <a:sym typeface="Tomorrow"/>
                </a:rPr>
                <a:t>5.3%</a:t>
              </a:r>
            </a:p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>
                  <a:solidFill>
                    <a:srgbClr val="000000"/>
                  </a:solidFill>
                  <a:latin typeface="Tomorrow"/>
                  <a:ea typeface="Tomorrow"/>
                  <a:cs typeface="Tomorrow"/>
                  <a:sym typeface="Tomorrow"/>
                </a:rPr>
                <a:t>Above national average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3034" y="6723642"/>
              <a:ext cx="7113662" cy="15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Homicide rate: </a:t>
              </a:r>
              <a:r>
                <a:rPr lang="en-US" sz="22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36.2 murders </a:t>
              </a:r>
            </a:p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 100,000 residents (TBI, 2024)</a:t>
              </a:r>
            </a:p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endParaRPr lang="en-US" sz="22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324944" y="857667"/>
              <a:ext cx="6170707" cy="101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 b="1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Drug overdose: </a:t>
              </a:r>
              <a:r>
                <a:rPr lang="en-US" sz="2216">
                  <a:solidFill>
                    <a:srgbClr val="000000"/>
                  </a:solidFill>
                  <a:latin typeface="Tomorrow"/>
                  <a:ea typeface="Tomorrow"/>
                  <a:cs typeface="Tomorrow"/>
                  <a:sym typeface="Tomorrow"/>
                </a:rPr>
                <a:t>56.0 deaths per 100,000 residents (NCHS, 2024)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351330" y="6582110"/>
              <a:ext cx="4144320" cy="15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 b="1">
                  <a:solidFill>
                    <a:srgbClr val="000000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Dropout rate:</a:t>
              </a:r>
            </a:p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r>
                <a:rPr lang="en-US" sz="2216">
                  <a:solidFill>
                    <a:srgbClr val="000000"/>
                  </a:solidFill>
                  <a:latin typeface="Tomorrow"/>
                  <a:ea typeface="Tomorrow"/>
                  <a:cs typeface="Tomorrow"/>
                  <a:sym typeface="Tomorrow"/>
                </a:rPr>
                <a:t> 18.1% (OREA, 2023)</a:t>
              </a:r>
            </a:p>
            <a:p>
              <a:pPr algn="ctr">
                <a:lnSpc>
                  <a:spcPts val="3103"/>
                </a:lnSpc>
                <a:spcBef>
                  <a:spcPct val="0"/>
                </a:spcBef>
              </a:pPr>
              <a:endParaRPr lang="en-US" sz="2216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0914550" y="4122456"/>
              <a:ext cx="2686993" cy="2884203"/>
            </a:xfrm>
            <a:custGeom>
              <a:avLst/>
              <a:gdLst/>
              <a:ahLst/>
              <a:cxnLst/>
              <a:rect l="l" t="t" r="r" b="b"/>
              <a:pathLst>
                <a:path w="2686993" h="2884203">
                  <a:moveTo>
                    <a:pt x="0" y="0"/>
                  </a:moveTo>
                  <a:lnTo>
                    <a:pt x="2686993" y="0"/>
                  </a:lnTo>
                  <a:lnTo>
                    <a:pt x="2686993" y="2884203"/>
                  </a:lnTo>
                  <a:lnTo>
                    <a:pt x="0" y="2884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00157" y="3653573"/>
              <a:ext cx="1884281" cy="6636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98"/>
                </a:lnSpc>
                <a:spcBef>
                  <a:spcPct val="0"/>
                </a:spcBef>
              </a:pPr>
              <a:r>
                <a:rPr lang="en-US" sz="2998" b="1" dirty="0">
                  <a:solidFill>
                    <a:srgbClr val="175DBD"/>
                  </a:solidFill>
                  <a:latin typeface="Tomorrow Bold"/>
                  <a:ea typeface="Tomorrow Bold"/>
                  <a:cs typeface="Tomorrow Bold"/>
                  <a:sym typeface="Tomorrow Bold"/>
                </a:rPr>
                <a:t>CRIME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3859" y="1569086"/>
            <a:ext cx="14540282" cy="5461466"/>
            <a:chOff x="0" y="0"/>
            <a:chExt cx="19387043" cy="7281955"/>
          </a:xfrm>
        </p:grpSpPr>
        <p:sp>
          <p:nvSpPr>
            <p:cNvPr id="3" name="Freeform 3"/>
            <p:cNvSpPr/>
            <p:nvPr/>
          </p:nvSpPr>
          <p:spPr>
            <a:xfrm>
              <a:off x="10945533" y="452018"/>
              <a:ext cx="8441510" cy="6270836"/>
            </a:xfrm>
            <a:custGeom>
              <a:avLst/>
              <a:gdLst/>
              <a:ahLst/>
              <a:cxnLst/>
              <a:rect l="l" t="t" r="r" b="b"/>
              <a:pathLst>
                <a:path w="8441510" h="6270836">
                  <a:moveTo>
                    <a:pt x="0" y="0"/>
                  </a:moveTo>
                  <a:lnTo>
                    <a:pt x="8441510" y="0"/>
                  </a:lnTo>
                  <a:lnTo>
                    <a:pt x="8441510" y="6270836"/>
                  </a:lnTo>
                  <a:lnTo>
                    <a:pt x="0" y="6270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3538660" y="2430107"/>
              <a:ext cx="8579264" cy="2421741"/>
            </a:xfrm>
            <a:custGeom>
              <a:avLst/>
              <a:gdLst/>
              <a:ahLst/>
              <a:cxnLst/>
              <a:rect l="l" t="t" r="r" b="b"/>
              <a:pathLst>
                <a:path w="8579264" h="2421741">
                  <a:moveTo>
                    <a:pt x="0" y="0"/>
                  </a:moveTo>
                  <a:lnTo>
                    <a:pt x="8579264" y="0"/>
                  </a:lnTo>
                  <a:lnTo>
                    <a:pt x="8579264" y="2421741"/>
                  </a:lnTo>
                  <a:lnTo>
                    <a:pt x="0" y="2421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9977" b="-658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5083990" cy="7281955"/>
            </a:xfrm>
            <a:custGeom>
              <a:avLst/>
              <a:gdLst/>
              <a:ahLst/>
              <a:cxnLst/>
              <a:rect l="l" t="t" r="r" b="b"/>
              <a:pathLst>
                <a:path w="5083990" h="7281955">
                  <a:moveTo>
                    <a:pt x="0" y="0"/>
                  </a:moveTo>
                  <a:lnTo>
                    <a:pt x="5083990" y="0"/>
                  </a:lnTo>
                  <a:lnTo>
                    <a:pt x="5083990" y="7281955"/>
                  </a:lnTo>
                  <a:lnTo>
                    <a:pt x="0" y="7281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24213" y="415290"/>
            <a:ext cx="463957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SOLUTION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682365" y="4481284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70"/>
                </a:lnTo>
                <a:lnTo>
                  <a:pt x="0" y="179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53866" y="8032973"/>
            <a:ext cx="17272537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ConnectEd is an AI-powered platform that provides that connection between schools, counselors, and students to reduce crime by preventing academic failure and unlocking government resources. </a:t>
            </a:r>
          </a:p>
        </p:txBody>
      </p:sp>
      <p:sp>
        <p:nvSpPr>
          <p:cNvPr id="9" name="Freeform 9"/>
          <p:cNvSpPr/>
          <p:nvPr/>
        </p:nvSpPr>
        <p:spPr>
          <a:xfrm>
            <a:off x="16493931" y="0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74331" cy="539013"/>
          </a:xfrm>
          <a:custGeom>
            <a:avLst/>
            <a:gdLst/>
            <a:ahLst/>
            <a:cxnLst/>
            <a:rect l="l" t="t" r="r" b="b"/>
            <a:pathLst>
              <a:path w="474331" h="539013">
                <a:moveTo>
                  <a:pt x="0" y="0"/>
                </a:moveTo>
                <a:lnTo>
                  <a:pt x="474331" y="0"/>
                </a:lnTo>
                <a:lnTo>
                  <a:pt x="474331" y="539013"/>
                </a:lnTo>
                <a:lnTo>
                  <a:pt x="0" y="53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493931" y="0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38422" y="1082344"/>
            <a:ext cx="1500353" cy="43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57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THYNK UNLIMITED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34671" y="785921"/>
            <a:ext cx="2167845" cy="50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TARGET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85881" y="8459213"/>
            <a:ext cx="11719601" cy="2191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  <a:spcBef>
                <a:spcPct val="0"/>
              </a:spcBef>
            </a:pPr>
            <a:r>
              <a:rPr lang="en-US" sz="2072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Focus on struggling middle school students (grades 6–8) in Memphis.</a:t>
            </a:r>
          </a:p>
          <a:p>
            <a:pPr algn="ctr">
              <a:lnSpc>
                <a:spcPts val="2901"/>
              </a:lnSpc>
              <a:spcBef>
                <a:spcPct val="0"/>
              </a:spcBef>
            </a:pPr>
            <a:endParaRPr lang="en-US" sz="2072" b="1" dirty="0">
              <a:solidFill>
                <a:srgbClr val="000000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ctr">
              <a:lnSpc>
                <a:spcPts val="2901"/>
              </a:lnSpc>
              <a:spcBef>
                <a:spcPct val="0"/>
              </a:spcBef>
            </a:pPr>
            <a:r>
              <a:rPr lang="en-US" sz="2072" b="1" dirty="0" err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ConnectEd</a:t>
            </a:r>
            <a:r>
              <a:rPr lang="en-US" sz="2072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 spots them early, connects them with </a:t>
            </a:r>
          </a:p>
          <a:p>
            <a:pPr algn="ctr">
              <a:lnSpc>
                <a:spcPts val="2901"/>
              </a:lnSpc>
              <a:spcBef>
                <a:spcPct val="0"/>
              </a:spcBef>
            </a:pPr>
            <a:r>
              <a:rPr lang="en-US" sz="2072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counselors, and unlocks grants, tutoring, and after-school programs to get them back on track</a:t>
            </a:r>
          </a:p>
          <a:p>
            <a:pPr algn="ctr">
              <a:lnSpc>
                <a:spcPts val="2901"/>
              </a:lnSpc>
              <a:spcBef>
                <a:spcPct val="0"/>
              </a:spcBef>
            </a:pPr>
            <a:endParaRPr lang="en-US" sz="2072" b="1" dirty="0">
              <a:solidFill>
                <a:srgbClr val="000000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138775" y="1615530"/>
            <a:ext cx="11966708" cy="6789667"/>
            <a:chOff x="0" y="0"/>
            <a:chExt cx="15955610" cy="9052889"/>
          </a:xfrm>
        </p:grpSpPr>
        <p:sp>
          <p:nvSpPr>
            <p:cNvPr id="8" name="Freeform 8"/>
            <p:cNvSpPr/>
            <p:nvPr/>
          </p:nvSpPr>
          <p:spPr>
            <a:xfrm>
              <a:off x="3295989" y="4840396"/>
              <a:ext cx="7482423" cy="4212493"/>
            </a:xfrm>
            <a:custGeom>
              <a:avLst/>
              <a:gdLst/>
              <a:ahLst/>
              <a:cxnLst/>
              <a:rect l="l" t="t" r="r" b="b"/>
              <a:pathLst>
                <a:path w="7482423" h="4212493">
                  <a:moveTo>
                    <a:pt x="0" y="0"/>
                  </a:moveTo>
                  <a:lnTo>
                    <a:pt x="7482422" y="0"/>
                  </a:lnTo>
                  <a:lnTo>
                    <a:pt x="7482422" y="4212493"/>
                  </a:lnTo>
                  <a:lnTo>
                    <a:pt x="0" y="4212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296" b="-929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813812" cy="4072579"/>
            </a:xfrm>
            <a:custGeom>
              <a:avLst/>
              <a:gdLst/>
              <a:ahLst/>
              <a:cxnLst/>
              <a:rect l="l" t="t" r="r" b="b"/>
              <a:pathLst>
                <a:path w="2813812" h="4072579">
                  <a:moveTo>
                    <a:pt x="0" y="0"/>
                  </a:moveTo>
                  <a:lnTo>
                    <a:pt x="2813812" y="0"/>
                  </a:lnTo>
                  <a:lnTo>
                    <a:pt x="2813812" y="4072579"/>
                  </a:lnTo>
                  <a:lnTo>
                    <a:pt x="0" y="4072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688" r="-21320" b="-140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70277" y="1043127"/>
              <a:ext cx="3333846" cy="1990259"/>
            </a:xfrm>
            <a:custGeom>
              <a:avLst/>
              <a:gdLst/>
              <a:ahLst/>
              <a:cxnLst/>
              <a:rect l="l" t="t" r="r" b="b"/>
              <a:pathLst>
                <a:path w="3333846" h="1990259">
                  <a:moveTo>
                    <a:pt x="0" y="0"/>
                  </a:moveTo>
                  <a:lnTo>
                    <a:pt x="3333846" y="0"/>
                  </a:lnTo>
                  <a:lnTo>
                    <a:pt x="3333846" y="1990259"/>
                  </a:lnTo>
                  <a:lnTo>
                    <a:pt x="0" y="1990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66" t="-29302" b="-426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 rot="5336017">
              <a:off x="6358393" y="3280187"/>
              <a:ext cx="1357615" cy="1313408"/>
            </a:xfrm>
            <a:custGeom>
              <a:avLst/>
              <a:gdLst/>
              <a:ahLst/>
              <a:cxnLst/>
              <a:rect l="l" t="t" r="r" b="b"/>
              <a:pathLst>
                <a:path w="1357615" h="1313408">
                  <a:moveTo>
                    <a:pt x="0" y="0"/>
                  </a:moveTo>
                  <a:lnTo>
                    <a:pt x="1357614" y="0"/>
                  </a:lnTo>
                  <a:lnTo>
                    <a:pt x="1357614" y="1313408"/>
                  </a:lnTo>
                  <a:lnTo>
                    <a:pt x="0" y="1313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91" r="-391" b="-417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312937" y="0"/>
              <a:ext cx="4642673" cy="4072579"/>
            </a:xfrm>
            <a:custGeom>
              <a:avLst/>
              <a:gdLst/>
              <a:ahLst/>
              <a:cxnLst/>
              <a:rect l="l" t="t" r="r" b="b"/>
              <a:pathLst>
                <a:path w="4642673" h="4072579">
                  <a:moveTo>
                    <a:pt x="0" y="0"/>
                  </a:moveTo>
                  <a:lnTo>
                    <a:pt x="4642673" y="0"/>
                  </a:lnTo>
                  <a:lnTo>
                    <a:pt x="4642673" y="4072579"/>
                  </a:lnTo>
                  <a:lnTo>
                    <a:pt x="0" y="4072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296" b="-171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8887235" y="1484520"/>
              <a:ext cx="1610023" cy="1103539"/>
            </a:xfrm>
            <a:custGeom>
              <a:avLst/>
              <a:gdLst/>
              <a:ahLst/>
              <a:cxnLst/>
              <a:rect l="l" t="t" r="r" b="b"/>
              <a:pathLst>
                <a:path w="1610023" h="1103539">
                  <a:moveTo>
                    <a:pt x="0" y="0"/>
                  </a:moveTo>
                  <a:lnTo>
                    <a:pt x="1610023" y="0"/>
                  </a:lnTo>
                  <a:lnTo>
                    <a:pt x="1610023" y="1103539"/>
                  </a:lnTo>
                  <a:lnTo>
                    <a:pt x="0" y="1103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0025" b="-258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943365" y="1484520"/>
              <a:ext cx="1610023" cy="1103539"/>
            </a:xfrm>
            <a:custGeom>
              <a:avLst/>
              <a:gdLst/>
              <a:ahLst/>
              <a:cxnLst/>
              <a:rect l="l" t="t" r="r" b="b"/>
              <a:pathLst>
                <a:path w="1610023" h="1103539">
                  <a:moveTo>
                    <a:pt x="0" y="0"/>
                  </a:moveTo>
                  <a:lnTo>
                    <a:pt x="1610024" y="0"/>
                  </a:lnTo>
                  <a:lnTo>
                    <a:pt x="1610024" y="1103539"/>
                  </a:lnTo>
                  <a:lnTo>
                    <a:pt x="0" y="1103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0025" b="-2587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93768" y="449431"/>
            <a:ext cx="4500463" cy="517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3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011229"/>
                </a:solidFill>
                <a:latin typeface="Tomorrow Bold"/>
                <a:ea typeface="Tomorrow Bold"/>
                <a:cs typeface="Tomorrow Bold"/>
                <a:sym typeface="Tomorrow Bold"/>
              </a:rPr>
              <a:t>IMPLEMENTATION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24046" y="2424314"/>
            <a:ext cx="13639910" cy="5438373"/>
            <a:chOff x="0" y="0"/>
            <a:chExt cx="18186546" cy="725116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738424" cy="5569712"/>
              <a:chOff x="0" y="0"/>
              <a:chExt cx="1003208" cy="97371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03208" cy="973714"/>
              </a:xfrm>
              <a:custGeom>
                <a:avLst/>
                <a:gdLst/>
                <a:ahLst/>
                <a:cxnLst/>
                <a:rect l="l" t="t" r="r" b="b"/>
                <a:pathLst>
                  <a:path w="1003208" h="973714">
                    <a:moveTo>
                      <a:pt x="91741" y="0"/>
                    </a:moveTo>
                    <a:lnTo>
                      <a:pt x="911467" y="0"/>
                    </a:lnTo>
                    <a:cubicBezTo>
                      <a:pt x="962134" y="0"/>
                      <a:pt x="1003208" y="41074"/>
                      <a:pt x="1003208" y="91741"/>
                    </a:cubicBezTo>
                    <a:lnTo>
                      <a:pt x="1003208" y="881973"/>
                    </a:lnTo>
                    <a:cubicBezTo>
                      <a:pt x="1003208" y="906304"/>
                      <a:pt x="993543" y="929639"/>
                      <a:pt x="976338" y="946843"/>
                    </a:cubicBezTo>
                    <a:cubicBezTo>
                      <a:pt x="959133" y="964048"/>
                      <a:pt x="935798" y="973714"/>
                      <a:pt x="911467" y="973714"/>
                    </a:cubicBezTo>
                    <a:lnTo>
                      <a:pt x="91741" y="973714"/>
                    </a:lnTo>
                    <a:cubicBezTo>
                      <a:pt x="41074" y="973714"/>
                      <a:pt x="0" y="932640"/>
                      <a:pt x="0" y="881973"/>
                    </a:cubicBezTo>
                    <a:lnTo>
                      <a:pt x="0" y="91741"/>
                    </a:lnTo>
                    <a:cubicBezTo>
                      <a:pt x="0" y="67410"/>
                      <a:pt x="9666" y="44075"/>
                      <a:pt x="26870" y="26870"/>
                    </a:cubicBezTo>
                    <a:cubicBezTo>
                      <a:pt x="44075" y="9666"/>
                      <a:pt x="67410" y="0"/>
                      <a:pt x="9174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2254C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003208" cy="10118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22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6224061" y="0"/>
              <a:ext cx="5738424" cy="5569712"/>
              <a:chOff x="0" y="0"/>
              <a:chExt cx="1003208" cy="97371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03208" cy="973714"/>
              </a:xfrm>
              <a:custGeom>
                <a:avLst/>
                <a:gdLst/>
                <a:ahLst/>
                <a:cxnLst/>
                <a:rect l="l" t="t" r="r" b="b"/>
                <a:pathLst>
                  <a:path w="1003208" h="973714">
                    <a:moveTo>
                      <a:pt x="91741" y="0"/>
                    </a:moveTo>
                    <a:lnTo>
                      <a:pt x="911467" y="0"/>
                    </a:lnTo>
                    <a:cubicBezTo>
                      <a:pt x="962134" y="0"/>
                      <a:pt x="1003208" y="41074"/>
                      <a:pt x="1003208" y="91741"/>
                    </a:cubicBezTo>
                    <a:lnTo>
                      <a:pt x="1003208" y="881973"/>
                    </a:lnTo>
                    <a:cubicBezTo>
                      <a:pt x="1003208" y="906304"/>
                      <a:pt x="993543" y="929639"/>
                      <a:pt x="976338" y="946843"/>
                    </a:cubicBezTo>
                    <a:cubicBezTo>
                      <a:pt x="959133" y="964048"/>
                      <a:pt x="935798" y="973714"/>
                      <a:pt x="911467" y="973714"/>
                    </a:cubicBezTo>
                    <a:lnTo>
                      <a:pt x="91741" y="973714"/>
                    </a:lnTo>
                    <a:cubicBezTo>
                      <a:pt x="41074" y="973714"/>
                      <a:pt x="0" y="932640"/>
                      <a:pt x="0" y="881973"/>
                    </a:cubicBezTo>
                    <a:lnTo>
                      <a:pt x="0" y="91741"/>
                    </a:lnTo>
                    <a:cubicBezTo>
                      <a:pt x="0" y="67410"/>
                      <a:pt x="9666" y="44075"/>
                      <a:pt x="26870" y="26870"/>
                    </a:cubicBezTo>
                    <a:cubicBezTo>
                      <a:pt x="44075" y="9666"/>
                      <a:pt x="67410" y="0"/>
                      <a:pt x="9174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2254C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003208" cy="10118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22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2448122" y="0"/>
              <a:ext cx="5738424" cy="5569712"/>
              <a:chOff x="0" y="0"/>
              <a:chExt cx="1003208" cy="97371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03208" cy="973714"/>
              </a:xfrm>
              <a:custGeom>
                <a:avLst/>
                <a:gdLst/>
                <a:ahLst/>
                <a:cxnLst/>
                <a:rect l="l" t="t" r="r" b="b"/>
                <a:pathLst>
                  <a:path w="1003208" h="973714">
                    <a:moveTo>
                      <a:pt x="91741" y="0"/>
                    </a:moveTo>
                    <a:lnTo>
                      <a:pt x="911467" y="0"/>
                    </a:lnTo>
                    <a:cubicBezTo>
                      <a:pt x="962134" y="0"/>
                      <a:pt x="1003208" y="41074"/>
                      <a:pt x="1003208" y="91741"/>
                    </a:cubicBezTo>
                    <a:lnTo>
                      <a:pt x="1003208" y="881973"/>
                    </a:lnTo>
                    <a:cubicBezTo>
                      <a:pt x="1003208" y="906304"/>
                      <a:pt x="993543" y="929639"/>
                      <a:pt x="976338" y="946843"/>
                    </a:cubicBezTo>
                    <a:cubicBezTo>
                      <a:pt x="959133" y="964048"/>
                      <a:pt x="935798" y="973714"/>
                      <a:pt x="911467" y="973714"/>
                    </a:cubicBezTo>
                    <a:lnTo>
                      <a:pt x="91741" y="973714"/>
                    </a:lnTo>
                    <a:cubicBezTo>
                      <a:pt x="41074" y="973714"/>
                      <a:pt x="0" y="932640"/>
                      <a:pt x="0" y="881973"/>
                    </a:cubicBezTo>
                    <a:lnTo>
                      <a:pt x="0" y="91741"/>
                    </a:lnTo>
                    <a:cubicBezTo>
                      <a:pt x="0" y="67410"/>
                      <a:pt x="9666" y="44075"/>
                      <a:pt x="26870" y="26870"/>
                    </a:cubicBezTo>
                    <a:cubicBezTo>
                      <a:pt x="44075" y="9666"/>
                      <a:pt x="67410" y="0"/>
                      <a:pt x="9174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2254C5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003208" cy="10118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22"/>
                  </a:lnSpc>
                </a:pPr>
                <a:endParaRPr/>
              </a:p>
            </p:txBody>
          </p:sp>
        </p:grpSp>
        <p:sp>
          <p:nvSpPr>
            <p:cNvPr id="13" name="AutoShape 13"/>
            <p:cNvSpPr/>
            <p:nvPr/>
          </p:nvSpPr>
          <p:spPr>
            <a:xfrm flipH="1" flipV="1">
              <a:off x="2904489" y="5567988"/>
              <a:ext cx="0" cy="1502136"/>
            </a:xfrm>
            <a:prstGeom prst="line">
              <a:avLst/>
            </a:prstGeom>
            <a:ln w="50800" cap="flat">
              <a:solidFill>
                <a:srgbClr val="2254C5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609705" y="7070124"/>
              <a:ext cx="17576840" cy="0"/>
            </a:xfrm>
            <a:prstGeom prst="line">
              <a:avLst/>
            </a:prstGeom>
            <a:ln w="50800" cap="flat">
              <a:solidFill>
                <a:srgbClr val="2254C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9093273" y="5567988"/>
              <a:ext cx="0" cy="1502136"/>
            </a:xfrm>
            <a:prstGeom prst="line">
              <a:avLst/>
            </a:prstGeom>
            <a:ln w="50800" cap="flat">
              <a:solidFill>
                <a:srgbClr val="2254C5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15282056" y="5567988"/>
              <a:ext cx="0" cy="1502136"/>
            </a:xfrm>
            <a:prstGeom prst="line">
              <a:avLst/>
            </a:prstGeom>
            <a:ln w="50800" cap="flat">
              <a:solidFill>
                <a:srgbClr val="2254C5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2653049" y="6889084"/>
              <a:ext cx="502881" cy="362080"/>
              <a:chOff x="0" y="0"/>
              <a:chExt cx="1128872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2887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28872" h="812800">
                    <a:moveTo>
                      <a:pt x="564436" y="0"/>
                    </a:moveTo>
                    <a:cubicBezTo>
                      <a:pt x="252707" y="0"/>
                      <a:pt x="0" y="181951"/>
                      <a:pt x="0" y="406400"/>
                    </a:cubicBezTo>
                    <a:cubicBezTo>
                      <a:pt x="0" y="630849"/>
                      <a:pt x="252707" y="812800"/>
                      <a:pt x="564436" y="812800"/>
                    </a:cubicBezTo>
                    <a:cubicBezTo>
                      <a:pt x="876165" y="812800"/>
                      <a:pt x="1128872" y="630849"/>
                      <a:pt x="1128872" y="406400"/>
                    </a:cubicBezTo>
                    <a:cubicBezTo>
                      <a:pt x="1128872" y="181951"/>
                      <a:pt x="876165" y="0"/>
                      <a:pt x="564436" y="0"/>
                    </a:cubicBez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5832" y="28575"/>
                <a:ext cx="917208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7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70340" y="1230227"/>
              <a:ext cx="4797742" cy="46679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dirty="0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Collects &amp; Analyzes student academic data from school platforms(e.g. Canvas, </a:t>
              </a:r>
              <a:r>
                <a:rPr lang="en-US" sz="2499" b="1" dirty="0" err="1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Powercampus</a:t>
              </a:r>
              <a:r>
                <a:rPr lang="en-US" sz="2499" b="1" dirty="0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) </a:t>
              </a:r>
            </a:p>
            <a:p>
              <a:pPr algn="l">
                <a:lnSpc>
                  <a:spcPts val="2772"/>
                </a:lnSpc>
              </a:pPr>
              <a:endParaRPr lang="en-US" sz="2499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60367"/>
              <a:ext cx="5738424" cy="64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Step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4398" y="1125411"/>
              <a:ext cx="4797742" cy="3471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dirty="0" err="1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ConnectEd</a:t>
              </a:r>
              <a:r>
                <a:rPr lang="en-US" sz="2499" b="1" dirty="0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AI analyzes Reports to counselors with actionable insights</a:t>
              </a:r>
            </a:p>
            <a:p>
              <a:pPr algn="l">
                <a:lnSpc>
                  <a:spcPts val="2772"/>
                </a:lnSpc>
              </a:pPr>
              <a:endParaRPr lang="en-US" sz="2499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4061" y="250842"/>
              <a:ext cx="5738424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Step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679630" y="1483472"/>
              <a:ext cx="5275407" cy="2874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b="1" dirty="0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Matches Students to grants, programs &amp; solutions — instantly</a:t>
              </a:r>
            </a:p>
            <a:p>
              <a:pPr algn="l">
                <a:lnSpc>
                  <a:spcPts val="3499"/>
                </a:lnSpc>
              </a:pPr>
              <a:endParaRPr lang="en-US" sz="2499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448122" y="250842"/>
              <a:ext cx="5738424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254C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Step 3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841832" y="6889084"/>
              <a:ext cx="502881" cy="362080"/>
              <a:chOff x="0" y="0"/>
              <a:chExt cx="1128872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2887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28872" h="812800">
                    <a:moveTo>
                      <a:pt x="564436" y="0"/>
                    </a:moveTo>
                    <a:cubicBezTo>
                      <a:pt x="252707" y="0"/>
                      <a:pt x="0" y="181951"/>
                      <a:pt x="0" y="406400"/>
                    </a:cubicBezTo>
                    <a:cubicBezTo>
                      <a:pt x="0" y="630849"/>
                      <a:pt x="252707" y="812800"/>
                      <a:pt x="564436" y="812800"/>
                    </a:cubicBezTo>
                    <a:cubicBezTo>
                      <a:pt x="876165" y="812800"/>
                      <a:pt x="1128872" y="630849"/>
                      <a:pt x="1128872" y="406400"/>
                    </a:cubicBezTo>
                    <a:cubicBezTo>
                      <a:pt x="1128872" y="181951"/>
                      <a:pt x="876165" y="0"/>
                      <a:pt x="564436" y="0"/>
                    </a:cubicBez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5832" y="28575"/>
                <a:ext cx="917208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7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5030616" y="6889084"/>
              <a:ext cx="502881" cy="362080"/>
              <a:chOff x="0" y="0"/>
              <a:chExt cx="1128872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2887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28872" h="812800">
                    <a:moveTo>
                      <a:pt x="564436" y="0"/>
                    </a:moveTo>
                    <a:cubicBezTo>
                      <a:pt x="252707" y="0"/>
                      <a:pt x="0" y="181951"/>
                      <a:pt x="0" y="406400"/>
                    </a:cubicBezTo>
                    <a:cubicBezTo>
                      <a:pt x="0" y="630849"/>
                      <a:pt x="252707" y="812800"/>
                      <a:pt x="564436" y="812800"/>
                    </a:cubicBezTo>
                    <a:cubicBezTo>
                      <a:pt x="876165" y="812800"/>
                      <a:pt x="1128872" y="630849"/>
                      <a:pt x="1128872" y="406400"/>
                    </a:cubicBezTo>
                    <a:cubicBezTo>
                      <a:pt x="1128872" y="181951"/>
                      <a:pt x="876165" y="0"/>
                      <a:pt x="564436" y="0"/>
                    </a:cubicBez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5832" y="28575"/>
                <a:ext cx="917208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170"/>
                  </a:lnSpc>
                </a:pPr>
                <a:endParaRPr/>
              </a:p>
            </p:txBody>
          </p:sp>
        </p:grpSp>
      </p:grpSp>
      <p:sp>
        <p:nvSpPr>
          <p:cNvPr id="32" name="Freeform 32"/>
          <p:cNvSpPr/>
          <p:nvPr/>
        </p:nvSpPr>
        <p:spPr>
          <a:xfrm>
            <a:off x="16493931" y="0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8280" y="1663878"/>
            <a:ext cx="17235027" cy="4287594"/>
            <a:chOff x="0" y="0"/>
            <a:chExt cx="22980035" cy="5716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73011" cy="5716792"/>
            </a:xfrm>
            <a:custGeom>
              <a:avLst/>
              <a:gdLst/>
              <a:ahLst/>
              <a:cxnLst/>
              <a:rect l="l" t="t" r="r" b="b"/>
              <a:pathLst>
                <a:path w="6573011" h="5716792">
                  <a:moveTo>
                    <a:pt x="0" y="0"/>
                  </a:moveTo>
                  <a:lnTo>
                    <a:pt x="6573011" y="0"/>
                  </a:lnTo>
                  <a:lnTo>
                    <a:pt x="6573011" y="5716792"/>
                  </a:lnTo>
                  <a:lnTo>
                    <a:pt x="0" y="571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389" t="-19390" r="-13630" b="-288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546493" y="0"/>
              <a:ext cx="6773606" cy="5716792"/>
            </a:xfrm>
            <a:custGeom>
              <a:avLst/>
              <a:gdLst/>
              <a:ahLst/>
              <a:cxnLst/>
              <a:rect l="l" t="t" r="r" b="b"/>
              <a:pathLst>
                <a:path w="6773606" h="5716792">
                  <a:moveTo>
                    <a:pt x="0" y="0"/>
                  </a:moveTo>
                  <a:lnTo>
                    <a:pt x="6773606" y="0"/>
                  </a:lnTo>
                  <a:lnTo>
                    <a:pt x="6773606" y="5716792"/>
                  </a:lnTo>
                  <a:lnTo>
                    <a:pt x="0" y="571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662" r="-5662" b="-662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5293582" y="0"/>
              <a:ext cx="7686454" cy="5716792"/>
            </a:xfrm>
            <a:custGeom>
              <a:avLst/>
              <a:gdLst/>
              <a:ahLst/>
              <a:cxnLst/>
              <a:rect l="l" t="t" r="r" b="b"/>
              <a:pathLst>
                <a:path w="7686454" h="5716792">
                  <a:moveTo>
                    <a:pt x="0" y="0"/>
                  </a:moveTo>
                  <a:lnTo>
                    <a:pt x="7686453" y="0"/>
                  </a:lnTo>
                  <a:lnTo>
                    <a:pt x="7686453" y="5716792"/>
                  </a:lnTo>
                  <a:lnTo>
                    <a:pt x="0" y="571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62" r="-5662" b="-122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51764" y="248656"/>
            <a:ext cx="3384471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72630" y="6189093"/>
            <a:ext cx="5115370" cy="282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Scale from Memphis → Tennessee → Nationwide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3599" b="1" dirty="0">
              <a:solidFill>
                <a:srgbClr val="000000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3599" b="1" dirty="0">
              <a:solidFill>
                <a:srgbClr val="000000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98280" y="6198618"/>
            <a:ext cx="5017940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Expand to high schools &amp; colleges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99655" y="6198618"/>
            <a:ext cx="6912079" cy="316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Deeper AI analysis: Analyze all grades, test scores, exams, behavior trends on a deeper level and offer more specific solutions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493931" y="0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10794" y="1699505"/>
            <a:ext cx="4319388" cy="4604183"/>
          </a:xfrm>
          <a:custGeom>
            <a:avLst/>
            <a:gdLst/>
            <a:ahLst/>
            <a:cxnLst/>
            <a:rect l="l" t="t" r="r" b="b"/>
            <a:pathLst>
              <a:path w="4319388" h="4604183">
                <a:moveTo>
                  <a:pt x="0" y="0"/>
                </a:moveTo>
                <a:lnTo>
                  <a:pt x="4319388" y="0"/>
                </a:lnTo>
                <a:lnTo>
                  <a:pt x="4319388" y="4604184"/>
                </a:lnTo>
                <a:lnTo>
                  <a:pt x="0" y="4604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493931" y="0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923359" y="283624"/>
            <a:ext cx="6441281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&amp; SOCIAL ROI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8520" y="6418992"/>
            <a:ext cx="6597863" cy="2433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Startup costs, including API, cloud storage, and labor, amount to approximately $39,000.00.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sz="2303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Approx. $9,000 profit from selling the service to at least one school with 400 students per year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39200" y="6007544"/>
            <a:ext cx="9206677" cy="310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br>
              <a:rPr lang="en-US" sz="2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</a:br>
            <a:r>
              <a:rPr lang="en-US" sz="2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platform is expected to contribute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a 6% decrease in crime for every percent decrease in the dropout rate. </a:t>
            </a:r>
            <a:br>
              <a:rPr lang="en-US" sz="2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</a:br>
            <a:r>
              <a:rPr lang="en-US" sz="2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Approximately 14-26% of social savings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reduced crime. (MSN)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785475" y="1699505"/>
            <a:ext cx="4134536" cy="4134536"/>
          </a:xfrm>
          <a:custGeom>
            <a:avLst/>
            <a:gdLst/>
            <a:ahLst/>
            <a:cxnLst/>
            <a:rect l="l" t="t" r="r" b="b"/>
            <a:pathLst>
              <a:path w="4134536" h="4134536">
                <a:moveTo>
                  <a:pt x="0" y="0"/>
                </a:moveTo>
                <a:lnTo>
                  <a:pt x="4134536" y="0"/>
                </a:lnTo>
                <a:lnTo>
                  <a:pt x="4134536" y="4134536"/>
                </a:lnTo>
                <a:lnTo>
                  <a:pt x="0" y="4134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19577" y="190500"/>
            <a:ext cx="3651490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53939" y="2324100"/>
            <a:ext cx="12182765" cy="6373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Memphis loses too many youth to crime. We change that.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 err="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ConnectEd</a:t>
            </a:r>
            <a:r>
              <a:rPr lang="en-US" sz="2999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spots the struggle early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Counselors get clear, fast reports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Students get real help — grants, tutoring and support</a:t>
            </a:r>
          </a:p>
          <a:p>
            <a:pPr algn="ctr">
              <a:lnSpc>
                <a:spcPts val="3919"/>
              </a:lnSpc>
            </a:pPr>
            <a:endParaRPr lang="en-US" sz="2999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3919"/>
              </a:lnSpc>
            </a:pPr>
            <a:endParaRPr lang="en-US" sz="2999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3919"/>
              </a:lnSpc>
            </a:pPr>
            <a:endParaRPr lang="en-US" sz="2999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3919"/>
              </a:lnSpc>
            </a:pPr>
            <a:endParaRPr lang="en-US" sz="2999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3919"/>
              </a:lnSpc>
            </a:pPr>
            <a:endParaRPr lang="en-US" sz="2999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3919"/>
              </a:lnSpc>
            </a:pPr>
            <a:endParaRPr lang="en-US" sz="2999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ctr">
              <a:lnSpc>
                <a:spcPts val="5179"/>
              </a:lnSpc>
            </a:pPr>
            <a:r>
              <a:rPr lang="en-US" sz="3699" b="1" dirty="0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Starting with middle school. Scaling to millions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699" b="1" dirty="0">
              <a:solidFill>
                <a:srgbClr val="000000"/>
              </a:solidFill>
              <a:latin typeface="Tomorrow Bold"/>
              <a:ea typeface="Tomorrow Bold"/>
              <a:cs typeface="Tomorrow Bold"/>
              <a:sym typeface="Tomorrow Bold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0B651CA-110B-7615-CFDE-5170320713A9}"/>
              </a:ext>
            </a:extLst>
          </p:cNvPr>
          <p:cNvSpPr/>
          <p:nvPr/>
        </p:nvSpPr>
        <p:spPr>
          <a:xfrm>
            <a:off x="16493931" y="0"/>
            <a:ext cx="1794069" cy="1794069"/>
          </a:xfrm>
          <a:custGeom>
            <a:avLst/>
            <a:gdLst/>
            <a:ahLst/>
            <a:cxnLst/>
            <a:rect l="l" t="t" r="r" b="b"/>
            <a:pathLst>
              <a:path w="1794069" h="1794069">
                <a:moveTo>
                  <a:pt x="0" y="0"/>
                </a:moveTo>
                <a:lnTo>
                  <a:pt x="1794069" y="0"/>
                </a:lnTo>
                <a:lnTo>
                  <a:pt x="1794069" y="1794069"/>
                </a:lnTo>
                <a:lnTo>
                  <a:pt x="0" y="1794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671</Words>
  <Application>Microsoft Office PowerPoint</Application>
  <PresentationFormat>Custom</PresentationFormat>
  <Paragraphs>78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Montserrat Bold</vt:lpstr>
      <vt:lpstr>Montserrat</vt:lpstr>
      <vt:lpstr>Tomorrow</vt:lpstr>
      <vt:lpstr>Tomorrow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cp:lastModifiedBy>Biynah Dayok</cp:lastModifiedBy>
  <cp:revision>1</cp:revision>
  <dcterms:created xsi:type="dcterms:W3CDTF">2006-08-16T00:00:00Z</dcterms:created>
  <dcterms:modified xsi:type="dcterms:W3CDTF">2025-11-08T14:19:49Z</dcterms:modified>
  <dc:identifier>DAG4CSlysA0</dc:identifier>
</cp:coreProperties>
</file>